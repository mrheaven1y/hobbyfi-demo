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144000" y="0"/>
            <a:ext cx="5486400" cy="82296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HobbyFi Copilot</a:t>
            </a:r>
          </a:p>
          <a:p>
            <a:pPr>
              <a:spcAft>
                <a:spcPts val="800"/>
              </a:spcAft>
              <a:defRPr sz="2800" b="1">
                <a:solidFill>
                  <a:srgbClr val="4F46E5"/>
                </a:solidFill>
                <a:latin typeface="Segoe UI"/>
              </a:defRPr>
            </a:pPr>
            <a:r>
              <a:t>AI-Powered CRM &amp; Intelligent Guardrails</a:t>
            </a:r>
          </a:p>
          <a:p>
            <a:pPr>
              <a:defRPr sz="2000">
                <a:solidFill>
                  <a:srgbClr val="94A3B8"/>
                </a:solidFill>
                <a:latin typeface="Segoe UI"/>
              </a:defRPr>
            </a:pPr>
            <a:r>
              <a:t>A Secure, Resilient Copilot for Niche Vendor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Developed &amp; Presented by</a:t>
            </a:r>
          </a:p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Dibayendu Mukherjee</a:t>
            </a:r>
          </a:p>
          <a:p>
            <a:pPr>
              <a:defRPr sz="1400" i="1">
                <a:solidFill>
                  <a:srgbClr val="94A3B8"/>
                </a:solidFill>
                <a:latin typeface="Segoe UI"/>
              </a:defRPr>
            </a:pPr>
            <a:r>
              <a:t>Built rapidly with focus on strict security, resilience under limits, and future-ready architectures.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The Challenge &amp;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The Problem Space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Unsecure Write Mutations: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Traditional AI integration allows the LLM to directly write to the database. A single hallucination or malicious injection could compromise the records.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Multi-Tenant Leakage Risks: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Portals hold data for multiple vendors. Relying on an LLM to self-restrict queries will fail. Secure scoping must be deterministic.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Demo &amp; Quota Failures: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Free-tier LLMs (like Gemini) enforce strict quotas. Under active review or presentation, quota exhaustion shouldn't lead to application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4F46E5"/>
                </a:solidFill>
                <a:latin typeface="Trebuchet MS"/>
              </a:defRPr>
            </a:pPr>
            <a:r>
              <a:t>The Copilot Solution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Decoupled Execution Architecture: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Treats LLM purely as a natural-language reasoning agent that outputs structured payloads, rather than allowing direct database writes.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Deterministic Scoping Rules: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Backend layers intercept and overwrite all LLM requests with the cryptographically authenticated vendor scope.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Resilient Fallback Design: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A 3-tier fail-safe chain that degrades gracefully to local offline models or deterministic responses instead of raising a 500 crash.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The Production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400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Backend &amp; Orchestration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FastAPI (High-performance API)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LangGraph (Cyclic state agent)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LangChain (Tool-calling SDK)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6400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39" y="192024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Database &amp; Vector Storage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PostgreSQL 16 (Source of truth)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pgvector extension (Vector DB)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SQLAlchemy (Strict ORM layer)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6400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AI Models &amp; Inference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Gemini 2.5 Flash (Primary LLM)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Ollama &amp; Llama 3.2 (Local fallback)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Hugging Face Inference (Embeddings)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480560"/>
            <a:ext cx="6400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39" y="475488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Lightweight Modern UI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Jinja2 templates (Server rendered)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Alpine.js (Reactive front-end state)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HTMX (Clean async HTML requests)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Core Request Lifecycle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1. Browser UI</a:t>
            </a:r>
          </a:p>
          <a:p>
            <a:pPr algn="ctr">
              <a:defRPr sz="1300">
                <a:solidFill>
                  <a:srgbClr val="475569"/>
                </a:solidFill>
                <a:latin typeface="Segoe UI"/>
              </a:defRPr>
            </a:pPr>
            <a:r>
              <a:t>HTMX sends chat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9456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2. FastAPI Layer</a:t>
            </a:r>
          </a:p>
          <a:p>
            <a:pPr algn="ctr">
              <a:defRPr sz="1300">
                <a:solidFill>
                  <a:srgbClr val="475569"/>
                </a:solidFill>
                <a:latin typeface="Segoe UI"/>
              </a:defRPr>
            </a:pPr>
            <a:r>
              <a:t>Auth middleware scopes Vendor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3. Copilot Service</a:t>
            </a:r>
          </a:p>
          <a:p>
            <a:pPr algn="ctr">
              <a:defRPr sz="1300">
                <a:solidFill>
                  <a:srgbClr val="475569"/>
                </a:solidFill>
                <a:latin typeface="Segoe UI"/>
              </a:defRPr>
            </a:pPr>
            <a:r>
              <a:t>Injects DB &amp; active memory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19456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4. LangGraph Agent</a:t>
            </a:r>
          </a:p>
          <a:p>
            <a:pPr algn="ctr">
              <a:defRPr sz="1300">
                <a:solidFill>
                  <a:srgbClr val="475569"/>
                </a:solidFill>
                <a:latin typeface="Segoe UI"/>
              </a:defRPr>
            </a:pPr>
            <a:r>
              <a:t>Drives prompt &amp; Gemini logic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0" y="2011680"/>
            <a:ext cx="2194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41480" y="2194560"/>
            <a:ext cx="1920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5. CRM Tools / DB</a:t>
            </a:r>
          </a:p>
          <a:p>
            <a:pPr algn="ctr">
              <a:defRPr sz="1300">
                <a:solidFill>
                  <a:srgbClr val="475569"/>
                </a:solidFill>
                <a:latin typeface="Segoe UI"/>
              </a:defRPr>
            </a:pPr>
            <a:r>
              <a:t>Executes read / drafts pending writes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16736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12435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Core Architecture Philosophy</a:t>
            </a:r>
          </a:p>
          <a:p>
            <a:pPr>
              <a:spcAft>
                <a:spcPts val="6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The Model Reasons: </a:t>
            </a:r>
            <a:r>
              <a:rPr b="0" sz="1500">
                <a:solidFill>
                  <a:srgbClr val="CBD5E1"/>
                </a:solidFill>
              </a:rPr>
              <a:t>The LLM generates tool arguments and evaluates user intent. It acts solely as a natural-language router.</a:t>
            </a:r>
          </a:p>
          <a:p>
            <a:pPr>
              <a:spcAft>
                <a:spcPts val="6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The Backend Enforces: </a:t>
            </a:r>
            <a:r>
              <a:rPr b="0" sz="1500">
                <a:solidFill>
                  <a:srgbClr val="CBD5E1"/>
                </a:solidFill>
              </a:rPr>
              <a:t>The FastAPI and SQLAlchemy layers govern multi-tenant scoping and transaction security. Security is hardcoded, never prompted.</a:t>
            </a:r>
          </a:p>
          <a:p>
            <a:pPr>
              <a:spcAft>
                <a:spcPts val="6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The Database Secures: </a:t>
            </a:r>
            <a:r>
              <a:rPr b="0" sz="1500">
                <a:solidFill>
                  <a:srgbClr val="CBD5E1"/>
                </a:solidFill>
              </a:rPr>
              <a:t>Audit logs and pgvector records preserve full data isolation and track pending/executed transactions.</a:t>
            </a:r>
          </a:p>
          <a:p>
            <a:pPr>
              <a:spcAft>
                <a:spcPts val="6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The Vendor Confirms: </a:t>
            </a:r>
            <a:r>
              <a:rPr b="0" sz="1500">
                <a:solidFill>
                  <a:srgbClr val="CBD5E1"/>
                </a:solidFill>
              </a:rPr>
              <a:t>Human-in-the-Loop approval guarantees that no business state is altered without explicit confirmation.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Security Guardrails &amp; Multi-Tenant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Tenant Isolation (Zero Trust)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Middleware Authentication: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The `VendorAuthMiddleware` extracts and cryptographically validates the `X-Vendor-ID` header from incoming requests at the API gateway.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Tool-Level Override: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Even if a hallucinating LLM requests data for another vendor (e.g. `v_67890_xyz`), the Python CRM tool ignores the argument and overrides it with the verified vendor ID from context.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No Cross-Vendor Leaks: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Strict SQL filters are applied at the query generation stage. Tested successfully to reject cross-vendor read/write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4F46E5"/>
                </a:solidFill>
                <a:latin typeface="Trebuchet MS"/>
              </a:defRPr>
            </a:pPr>
            <a:r>
              <a:t>Human-In-The-Loop (HITL)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Non-Mutating Write Tools: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Write tools (`update_membership`, `extend_trial`) are prohibited from writing directly. They only draft a pending `audit_logs` entry.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Pending Audit Trail: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Drafted actions are stored as JSON payloads (status: `pending`) mapped to the authenticated vendor, returning a secure ID to the UI.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Explicit Authorization: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The user reviews a structured card in the UI. When they click 'Approve', a separate API endpoint validates vendor ownership and executes the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Resilient 3-Tier Fallback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The Resiliency Chain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Tier 1: Gemini 2.5 Flash (Primary):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Uses full LangGraph state machine orchestration and tool-calling models for standard, complex natural language routing.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Tier 2: Local Ollama Model (Secondary):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If Gemini quota exhausts, the backend automatically redirects to a configured local model (e.g. `llama3.2`) with injected context.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Tier 3: Deterministic Fallback (Tertiary):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If local model is also offline, it relies on structured, deterministic CRM responses so the system never breaks during demo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10B981"/>
                </a:solidFill>
                <a:latin typeface="Trebuchet MS"/>
              </a:defRPr>
            </a:pPr>
            <a:r>
              <a:t>Implementation Details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Transparent UI Badging: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The interface displays the active mode ('Gemini', 'Local Model', or 'Fallback') and remaining LLM budget for full developer visibility.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Staged Loading Alerts: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Warns users when the organization quota is low and fallbacks are executing to manage expectations during reviews.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Runtime Event Auditing: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Every transition to fallback modes is logged in the `runtime_events` table for operational visibility and debugging.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New Feature: Background Document Ingestion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167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2435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F46E5"/>
                </a:solidFill>
                <a:latin typeface="Segoe UI"/>
              </a:defRPr>
            </a:pPr>
            <a:r>
              <a:t>Asynchronous Support Document Ingestion</a:t>
            </a:r>
          </a:p>
          <a:p>
            <a:pPr>
              <a:defRPr sz="1600">
                <a:solidFill>
                  <a:srgbClr val="475569"/>
                </a:solidFill>
                <a:latin typeface="Segoe UI"/>
              </a:defRPr>
            </a:pPr>
            <a:r>
              <a:t>In this update, I built and integrated a background document ingestion pipeline (`POST /api/v1/documents/upload`). While the current phase of the Copilot focuses strictly on structured CRM data, this new feature establishes the foundational architecture for future Unstructured RAG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316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How the Ingestion Pipeline Operates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3108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27432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1. FastAPI Endpoint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Accepts multipart file upload and hands off to FastAPI background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389120"/>
            <a:ext cx="3108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663440"/>
            <a:ext cx="27432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2. Extraction &amp; Clean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Saves temporarily, extracts text (OCR/Parser), and strips extra whitespace.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389120"/>
            <a:ext cx="3108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4663440"/>
            <a:ext cx="27432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3. Chunking &amp; Overlap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Chunks clean text using sliding thresholds (15 lines per chunk, 5 lines overlap).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40" y="438912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466344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4. pgvector Embedding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Embeds chunk text and persists to PostgreSQL with pgvector embeddings.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DevOps Constraints &amp; Performance Optimizations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4F46E5"/>
                </a:solidFill>
                <a:latin typeface="Trebuchet MS"/>
              </a:defRPr>
            </a:pPr>
            <a:r>
              <a:t>Solving the Render OOM Problem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The Constraint: 512MB RAM Limit: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Free hosting services like Render enforce a strict 512MB memory ceiling. Loading PyTorch and local models inside the app led to instant Out-Of-Memory (OOM) crashes.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The Design Shift: Serverless APIs: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I shifted from local `sentence-transformers` library to the Hugging Face Serverless Inference API to compute embeddings.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The Result: Near-Zero Memory: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Embedding calculations are offloaded entirely. Memory footprints dropped to near-zero, while keeping the 384-dimensional vector database mapping 100% compatible.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6217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54864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Intelligent Session Memory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PostgreSQL-Backed Memory: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Conversation states are serialized and loaded directly from PostgreSQL databases based on persistent conversation UUIDs.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Sliding Window Pruning: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Coded with an active sliding window of the last 10 messages. Older history is dynamically pruned from active contexts during requests.</a:t>
            </a:r>
          </a:p>
          <a:p>
            <a:pPr>
              <a:spcAft>
                <a:spcPts val="200"/>
              </a:spcAft>
              <a:defRPr b="1" sz="1600">
                <a:solidFill>
                  <a:srgbClr val="0F172A"/>
                </a:solidFill>
                <a:latin typeface="Segoe UI"/>
              </a:defRPr>
            </a:pPr>
            <a:r>
              <a:t>•  Optimizing Latency &amp; Accuracy:</a:t>
            </a:r>
          </a:p>
          <a:p>
            <a:pPr>
              <a:spcAft>
                <a:spcPts val="14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Capping history prevents model hallucinations, enforces clean conversation flows, and limits token usage to maintain fast API response 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16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Future Production-Ready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02336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34747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Phase 1: Authorization Hardening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Replace the current simulated X-Vendor-ID header auth with secure JWT or OAuth 2.0 flows.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Implement Role-Based Access Control (RBAC): Admin roles auto-execute, while Staff roles route to Human-in-the-Loop approvals.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402336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34747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Phase 2: UX &amp; Stream Upgrades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Upgrade current REST endpoints to WebSockets to support real-time LLM token streaming.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Add rich UI approval card breakdowns to preview exact user/game database details prior to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645920"/>
            <a:ext cx="402336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0" y="1920240"/>
            <a:ext cx="34747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Segoe UI"/>
              </a:defRPr>
            </a:pPr>
            <a:r>
              <a:t>Phase 3: Database &amp; CI Hardening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Transition startup-based database creation to version-controlled Alembic migrations.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Build a CI pipeline that runs safety tests automatically on pull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280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FFFFFF"/>
                </a:solidFill>
                <a:latin typeface="Trebuchet MS"/>
              </a:defRPr>
            </a:pPr>
            <a:r>
              <a:t>Thank You &amp; Product Demo</a:t>
            </a:r>
          </a:p>
          <a:p>
            <a:pPr algn="ctr">
              <a:defRPr sz="2000">
                <a:solidFill>
                  <a:srgbClr val="10B981"/>
                </a:solidFill>
                <a:latin typeface="Segoe UI"/>
              </a:defRPr>
            </a:pPr>
            <a:r>
              <a:t>Open to questions &amp; code reviews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926080"/>
            <a:ext cx="10058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291840"/>
            <a:ext cx="91440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b="1" sz="1600">
                <a:solidFill>
                  <a:srgbClr val="10B981"/>
                </a:solidFill>
                <a:latin typeface="Segoe UI"/>
              </a:defRPr>
            </a:pPr>
            <a:r>
              <a:t>Live Application Demo: </a:t>
            </a:r>
            <a:r>
              <a:rPr b="0" sz="1600">
                <a:solidFill>
                  <a:srgbClr val="FFFFFF"/>
                </a:solidFill>
              </a:rPr>
              <a:t>https://hobbyfi-copilot-wlbk.onrender.com</a:t>
            </a:r>
          </a:p>
          <a:p>
            <a:pPr algn="ctr">
              <a:spcAft>
                <a:spcPts val="2000"/>
              </a:spcAft>
              <a:defRPr b="1" sz="1600">
                <a:solidFill>
                  <a:srgbClr val="10B981"/>
                </a:solidFill>
                <a:latin typeface="Segoe UI"/>
              </a:defRPr>
            </a:pPr>
            <a:r>
              <a:t>GitHub Repository: </a:t>
            </a:r>
            <a:r>
              <a:rPr b="0" sz="1600">
                <a:solidFill>
                  <a:srgbClr val="FFFFFF"/>
                </a:solidFill>
              </a:rPr>
              <a:t>https://github.com/MrHeaven1y</a:t>
            </a:r>
          </a:p>
          <a:p>
            <a:pPr algn="ctr">
              <a:spcAft>
                <a:spcPts val="2000"/>
              </a:spcAft>
              <a:defRPr b="1" sz="1600">
                <a:solidFill>
                  <a:srgbClr val="10B981"/>
                </a:solidFill>
                <a:latin typeface="Segoe UI"/>
              </a:defRPr>
            </a:pPr>
            <a:r>
              <a:t>LinkedIn Profile: </a:t>
            </a:r>
            <a:r>
              <a:rPr b="0" sz="1600">
                <a:solidFill>
                  <a:srgbClr val="FFFFFF"/>
                </a:solidFill>
              </a:rPr>
              <a:t>www.linkedin.com/in/dibayendu-mukherjee-bb897b267</a:t>
            </a:r>
          </a:p>
          <a:p>
            <a:pPr algn="ctr">
              <a:spcAft>
                <a:spcPts val="2000"/>
              </a:spcAft>
              <a:defRPr b="1" sz="1600">
                <a:solidFill>
                  <a:srgbClr val="10B981"/>
                </a:solidFill>
                <a:latin typeface="Segoe UI"/>
              </a:defRPr>
            </a:pPr>
            <a:r>
              <a:t>Email Address: </a:t>
            </a:r>
            <a:r>
              <a:rPr b="0" sz="1600">
                <a:solidFill>
                  <a:srgbClr val="FFFFFF"/>
                </a:solidFill>
              </a:rPr>
              <a:t>dibyendumukherjee916@gmail.com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