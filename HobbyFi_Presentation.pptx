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144000" y="0"/>
            <a:ext cx="5486400" cy="8229600"/>
          </a:xfrm>
          <a:prstGeom prst="rtTriangl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914400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6400" b="1">
                <a:solidFill>
                  <a:srgbClr val="FFFFFF"/>
                </a:solidFill>
                <a:latin typeface="Trebuchet MS"/>
              </a:defRPr>
            </a:pPr>
            <a:r>
              <a:t>HobbyFi Copilot</a:t>
            </a:r>
          </a:p>
          <a:p>
            <a:pPr>
              <a:spcAft>
                <a:spcPts val="800"/>
              </a:spcAft>
              <a:defRPr sz="2800" b="1">
                <a:solidFill>
                  <a:srgbClr val="4F46E5"/>
                </a:solidFill>
                <a:latin typeface="Segoe UI"/>
              </a:defRPr>
            </a:pPr>
            <a:r>
              <a:t>AI-Powered CRM &amp; Intelligent Guardrails</a:t>
            </a:r>
          </a:p>
          <a:p>
            <a:pPr>
              <a:defRPr sz="2000">
                <a:solidFill>
                  <a:srgbClr val="94A3B8"/>
                </a:solidFill>
                <a:latin typeface="Segoe UI"/>
              </a:defRPr>
            </a:pPr>
            <a:r>
              <a:t>A Secure, Resilient Copilot for Niche Vendor Portals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914400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Developed &amp; Presented by</a:t>
            </a:r>
          </a:p>
          <a:p>
            <a:pPr>
              <a:spcAft>
                <a:spcPts val="8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Dibayendu Mukherjee</a:t>
            </a:r>
          </a:p>
          <a:p>
            <a:pPr>
              <a:defRPr sz="1400" i="1">
                <a:solidFill>
                  <a:srgbClr val="94A3B8"/>
                </a:solidFill>
                <a:latin typeface="Segoe UI"/>
              </a:defRPr>
            </a:pPr>
            <a:r>
              <a:t>Built rapidly with focus on strict security, resilience under limits, and future-ready architectures.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3167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Trebuchet MS"/>
              </a:defRPr>
            </a:pPr>
            <a:r>
              <a:t>The Challenge &amp; The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6217920" cy="5852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5486400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Trebuchet MS"/>
              </a:defRPr>
            </a:pPr>
            <a:r>
              <a:t>The Problem Space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Unsecure Write Mutations: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Traditional AI integration allows the LLM to directly write to the database. A single hallucination or malicious injection could compromise the records.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Multi-Tenant Leakage Risks: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Portals hold data for multiple vendors. Relying on an LLM to self-restrict queries will fail. Secure scoping must be deterministic.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Demo &amp; Quota Failures: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Free-tier LLMs (like Gemini) enforce strict quotas. Under active review or presentation, quota exhaustion shouldn't lead to application crashes.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645920"/>
            <a:ext cx="6217920" cy="5852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920240"/>
            <a:ext cx="5486400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4F46E5"/>
                </a:solidFill>
                <a:latin typeface="Trebuchet MS"/>
              </a:defRPr>
            </a:pPr>
            <a:r>
              <a:t>The Copilot Solution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Decoupled Execution Architecture: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Treats LLM purely as a natural-language reasoning agent that outputs structured payloads, rather than allowing direct database writes.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Deterministic Scoping Rules: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Backend layers intercept and overwrite all LLM requests with the cryptographically authenticated vendor scope.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Resilient Fallback Design: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A 3-tier fail-safe chain that degrades gracefully to local offline models or deterministic responses instead of raising a 500 crash.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3167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Trebuchet MS"/>
              </a:defRPr>
            </a:pPr>
            <a:r>
              <a:t>The Production Technology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64008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56692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4F46E5"/>
                </a:solidFill>
                <a:latin typeface="Segoe UI"/>
              </a:defRPr>
            </a:pPr>
            <a:r>
              <a:t>Backend &amp; Orchestration</a:t>
            </a:r>
          </a:p>
          <a:p>
            <a:pPr>
              <a:spcAft>
                <a:spcPts val="600"/>
              </a:spcAft>
              <a:defRPr sz="1500">
                <a:solidFill>
                  <a:srgbClr val="475569"/>
                </a:solidFill>
                <a:latin typeface="Segoe UI"/>
              </a:defRPr>
            </a:pPr>
            <a:r>
              <a:t>• FastAPI (High-performance API)</a:t>
            </a:r>
          </a:p>
          <a:p>
            <a:pPr>
              <a:spcAft>
                <a:spcPts val="600"/>
              </a:spcAft>
              <a:defRPr sz="1500">
                <a:solidFill>
                  <a:srgbClr val="475569"/>
                </a:solidFill>
                <a:latin typeface="Segoe UI"/>
              </a:defRPr>
            </a:pPr>
            <a:r>
              <a:t>• LangGraph (Cyclic state agent)</a:t>
            </a:r>
          </a:p>
          <a:p>
            <a:pPr>
              <a:spcAft>
                <a:spcPts val="600"/>
              </a:spcAft>
              <a:defRPr sz="1500">
                <a:solidFill>
                  <a:srgbClr val="475569"/>
                </a:solidFill>
                <a:latin typeface="Segoe UI"/>
              </a:defRPr>
            </a:pPr>
            <a:r>
              <a:t>• LangChain (Tool-calling SDK)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1645920"/>
            <a:ext cx="64008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39" y="1920240"/>
            <a:ext cx="56692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4F46E5"/>
                </a:solidFill>
                <a:latin typeface="Segoe UI"/>
              </a:defRPr>
            </a:pPr>
            <a:r>
              <a:t>Database &amp; Vector Storage</a:t>
            </a:r>
          </a:p>
          <a:p>
            <a:pPr>
              <a:spcAft>
                <a:spcPts val="600"/>
              </a:spcAft>
              <a:defRPr sz="1500">
                <a:solidFill>
                  <a:srgbClr val="475569"/>
                </a:solidFill>
                <a:latin typeface="Segoe UI"/>
              </a:defRPr>
            </a:pPr>
            <a:r>
              <a:t>• PostgreSQL 16 (Source of truth)</a:t>
            </a:r>
          </a:p>
          <a:p>
            <a:pPr>
              <a:spcAft>
                <a:spcPts val="600"/>
              </a:spcAft>
              <a:defRPr sz="1500">
                <a:solidFill>
                  <a:srgbClr val="475569"/>
                </a:solidFill>
                <a:latin typeface="Segoe UI"/>
              </a:defRPr>
            </a:pPr>
            <a:r>
              <a:t>• pgvector extension (Vector DB)</a:t>
            </a:r>
          </a:p>
          <a:p>
            <a:pPr>
              <a:spcAft>
                <a:spcPts val="600"/>
              </a:spcAft>
              <a:defRPr sz="1500">
                <a:solidFill>
                  <a:srgbClr val="475569"/>
                </a:solidFill>
                <a:latin typeface="Segoe UI"/>
              </a:defRPr>
            </a:pPr>
            <a:r>
              <a:t>• SQLAlchemy (Strict ORM layer)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480560"/>
            <a:ext cx="64008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754880"/>
            <a:ext cx="56692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4F46E5"/>
                </a:solidFill>
                <a:latin typeface="Segoe UI"/>
              </a:defRPr>
            </a:pPr>
            <a:r>
              <a:t>AI Models &amp; Inference</a:t>
            </a:r>
          </a:p>
          <a:p>
            <a:pPr>
              <a:spcAft>
                <a:spcPts val="600"/>
              </a:spcAft>
              <a:defRPr sz="1500">
                <a:solidFill>
                  <a:srgbClr val="475569"/>
                </a:solidFill>
                <a:latin typeface="Segoe UI"/>
              </a:defRPr>
            </a:pPr>
            <a:r>
              <a:t>• Gemini 2.5 Flash (Primary LLM)</a:t>
            </a:r>
          </a:p>
          <a:p>
            <a:pPr>
              <a:spcAft>
                <a:spcPts val="600"/>
              </a:spcAft>
              <a:defRPr sz="1500">
                <a:solidFill>
                  <a:srgbClr val="475569"/>
                </a:solidFill>
                <a:latin typeface="Segoe UI"/>
              </a:defRPr>
            </a:pPr>
            <a:r>
              <a:t>• Ollama &amp; Llama 3.2 (Local fallback)</a:t>
            </a:r>
          </a:p>
          <a:p>
            <a:pPr>
              <a:spcAft>
                <a:spcPts val="600"/>
              </a:spcAft>
              <a:defRPr sz="1500">
                <a:solidFill>
                  <a:srgbClr val="475569"/>
                </a:solidFill>
                <a:latin typeface="Segoe UI"/>
              </a:defRPr>
            </a:pPr>
            <a:r>
              <a:t>• Hugging Face Inference (Embeddings)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79" y="4480560"/>
            <a:ext cx="64008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39" y="4754880"/>
            <a:ext cx="56692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4F46E5"/>
                </a:solidFill>
                <a:latin typeface="Segoe UI"/>
              </a:defRPr>
            </a:pPr>
            <a:r>
              <a:t>Lightweight Modern UI</a:t>
            </a:r>
          </a:p>
          <a:p>
            <a:pPr>
              <a:spcAft>
                <a:spcPts val="600"/>
              </a:spcAft>
              <a:defRPr sz="1500">
                <a:solidFill>
                  <a:srgbClr val="475569"/>
                </a:solidFill>
                <a:latin typeface="Segoe UI"/>
              </a:defRPr>
            </a:pPr>
            <a:r>
              <a:t>• Jinja2 templates (Server rendered)</a:t>
            </a:r>
          </a:p>
          <a:p>
            <a:pPr>
              <a:spcAft>
                <a:spcPts val="600"/>
              </a:spcAft>
              <a:defRPr sz="1500">
                <a:solidFill>
                  <a:srgbClr val="475569"/>
                </a:solidFill>
                <a:latin typeface="Segoe UI"/>
              </a:defRPr>
            </a:pPr>
            <a:r>
              <a:t>• Alpine.js (Reactive front-end state)</a:t>
            </a:r>
          </a:p>
          <a:p>
            <a:pPr>
              <a:spcAft>
                <a:spcPts val="600"/>
              </a:spcAft>
              <a:defRPr sz="1500">
                <a:solidFill>
                  <a:srgbClr val="475569"/>
                </a:solidFill>
                <a:latin typeface="Segoe UI"/>
              </a:defRPr>
            </a:pPr>
            <a:r>
              <a:t>• HTMX (Clean async HTML requests)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3167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Trebuchet MS"/>
              </a:defRPr>
            </a:pPr>
            <a:r>
              <a:t>Core Request Lifecycle &amp;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23774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94560"/>
            <a:ext cx="21031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4F46E5"/>
                </a:solidFill>
                <a:latin typeface="Segoe UI"/>
              </a:defRPr>
            </a:pPr>
            <a:r>
              <a:t>1. Browser UI</a:t>
            </a:r>
          </a:p>
          <a:p>
            <a:pPr algn="ctr">
              <a:defRPr sz="1300">
                <a:solidFill>
                  <a:srgbClr val="475569"/>
                </a:solidFill>
                <a:latin typeface="Segoe UI"/>
              </a:defRPr>
            </a:pPr>
            <a:r>
              <a:t>HTMX sends chat input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011680"/>
            <a:ext cx="23774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2194560"/>
            <a:ext cx="21031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4F46E5"/>
                </a:solidFill>
                <a:latin typeface="Segoe UI"/>
              </a:defRPr>
            </a:pPr>
            <a:r>
              <a:t>2. FastAPI Layer</a:t>
            </a:r>
          </a:p>
          <a:p>
            <a:pPr algn="ctr">
              <a:defRPr sz="1300">
                <a:solidFill>
                  <a:srgbClr val="475569"/>
                </a:solidFill>
                <a:latin typeface="Segoe UI"/>
              </a:defRPr>
            </a:pPr>
            <a:r>
              <a:t>Auth middleware scopes Vendor 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011680"/>
            <a:ext cx="23774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2194560"/>
            <a:ext cx="21031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4F46E5"/>
                </a:solidFill>
                <a:latin typeface="Segoe UI"/>
              </a:defRPr>
            </a:pPr>
            <a:r>
              <a:t>3. Copilot Service</a:t>
            </a:r>
          </a:p>
          <a:p>
            <a:pPr algn="ctr">
              <a:defRPr sz="1300">
                <a:solidFill>
                  <a:srgbClr val="475569"/>
                </a:solidFill>
                <a:latin typeface="Segoe UI"/>
              </a:defRPr>
            </a:pPr>
            <a:r>
              <a:t>Injects DB &amp; active memory window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2011680"/>
            <a:ext cx="23774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2194560"/>
            <a:ext cx="21031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4F46E5"/>
                </a:solidFill>
                <a:latin typeface="Segoe UI"/>
              </a:defRPr>
            </a:pPr>
            <a:r>
              <a:t>4. LangGraph Agent</a:t>
            </a:r>
          </a:p>
          <a:p>
            <a:pPr algn="ctr">
              <a:defRPr sz="1300">
                <a:solidFill>
                  <a:srgbClr val="475569"/>
                </a:solidFill>
                <a:latin typeface="Segoe UI"/>
              </a:defRPr>
            </a:pPr>
            <a:r>
              <a:t>Drives prompt &amp; Gemini logic loop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704320" y="2011680"/>
            <a:ext cx="21945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41480" y="2194560"/>
            <a:ext cx="19202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4F46E5"/>
                </a:solidFill>
                <a:latin typeface="Segoe UI"/>
              </a:defRPr>
            </a:pPr>
            <a:r>
              <a:t>5. CRM Tools / DB</a:t>
            </a:r>
          </a:p>
          <a:p>
            <a:pPr algn="ctr">
              <a:defRPr sz="1300">
                <a:solidFill>
                  <a:srgbClr val="475569"/>
                </a:solidFill>
                <a:latin typeface="Segoe UI"/>
              </a:defRPr>
            </a:pPr>
            <a:r>
              <a:t>Executes read / drafts pending writes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97680"/>
            <a:ext cx="13167360" cy="29260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572000"/>
            <a:ext cx="1243584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10B981"/>
                </a:solidFill>
                <a:latin typeface="Trebuchet MS"/>
              </a:defRPr>
            </a:pPr>
            <a:r>
              <a:t>Core Architecture Philosophy</a:t>
            </a:r>
          </a:p>
          <a:p>
            <a:pPr>
              <a:spcAft>
                <a:spcPts val="600"/>
              </a:spcAft>
              <a:defRPr b="1" sz="1500">
                <a:solidFill>
                  <a:srgbClr val="FFFFFF"/>
                </a:solidFill>
                <a:latin typeface="Segoe UI"/>
              </a:defRPr>
            </a:pPr>
            <a:r>
              <a:t>The Model Reasons: </a:t>
            </a:r>
            <a:r>
              <a:rPr b="0" sz="1500">
                <a:solidFill>
                  <a:srgbClr val="CBD5E1"/>
                </a:solidFill>
              </a:rPr>
              <a:t>The LLM generates tool arguments and evaluates user intent. It acts solely as a natural-language router.</a:t>
            </a:r>
          </a:p>
          <a:p>
            <a:pPr>
              <a:spcAft>
                <a:spcPts val="600"/>
              </a:spcAft>
              <a:defRPr b="1" sz="1500">
                <a:solidFill>
                  <a:srgbClr val="FFFFFF"/>
                </a:solidFill>
                <a:latin typeface="Segoe UI"/>
              </a:defRPr>
            </a:pPr>
            <a:r>
              <a:t>The Backend Enforces: </a:t>
            </a:r>
            <a:r>
              <a:rPr b="0" sz="1500">
                <a:solidFill>
                  <a:srgbClr val="CBD5E1"/>
                </a:solidFill>
              </a:rPr>
              <a:t>The FastAPI and SQLAlchemy layers govern multi-tenant scoping and transaction security. Security is hardcoded, never prompted.</a:t>
            </a:r>
          </a:p>
          <a:p>
            <a:pPr>
              <a:spcAft>
                <a:spcPts val="600"/>
              </a:spcAft>
              <a:defRPr b="1" sz="1500">
                <a:solidFill>
                  <a:srgbClr val="FFFFFF"/>
                </a:solidFill>
                <a:latin typeface="Segoe UI"/>
              </a:defRPr>
            </a:pPr>
            <a:r>
              <a:t>The Database Secures: </a:t>
            </a:r>
            <a:r>
              <a:rPr b="0" sz="1500">
                <a:solidFill>
                  <a:srgbClr val="CBD5E1"/>
                </a:solidFill>
              </a:rPr>
              <a:t>Audit logs and pgvector records preserve full data isolation and track pending/executed transactions.</a:t>
            </a:r>
          </a:p>
          <a:p>
            <a:pPr>
              <a:spcAft>
                <a:spcPts val="600"/>
              </a:spcAft>
              <a:defRPr b="1" sz="1500">
                <a:solidFill>
                  <a:srgbClr val="FFFFFF"/>
                </a:solidFill>
                <a:latin typeface="Segoe UI"/>
              </a:defRPr>
            </a:pPr>
            <a:r>
              <a:t>The Vendor Confirms: </a:t>
            </a:r>
            <a:r>
              <a:rPr b="0" sz="1500">
                <a:solidFill>
                  <a:srgbClr val="CBD5E1"/>
                </a:solidFill>
              </a:rPr>
              <a:t>Human-in-the-Loop approval guarantees that no business state is altered without explicit confirmation.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3167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Trebuchet MS"/>
              </a:defRPr>
            </a:pPr>
            <a:r>
              <a:t>Security Guardrails &amp; Multi-Tenant Isolation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6217920" cy="5852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5486400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Trebuchet MS"/>
              </a:defRPr>
            </a:pPr>
            <a:r>
              <a:t>Tenant Isolation (Zero Trust)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Middleware Authentication: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The `VendorAuthMiddleware` extracts and cryptographically validates the `X-Vendor-ID` header from incoming requests at the API gateway.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Tool-Level Override: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Even if a hallucinating LLM requests data for another vendor (e.g. `v_67890_xyz`), the Python CRM tool ignores the argument and overrides it with the verified vendor ID from context.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No Cross-Vendor Leaks: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Strict SQL filters are applied at the query generation stage. Tested successfully to reject cross-vendor read/write requests.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645920"/>
            <a:ext cx="6217920" cy="5852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920240"/>
            <a:ext cx="5486400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4F46E5"/>
                </a:solidFill>
                <a:latin typeface="Trebuchet MS"/>
              </a:defRPr>
            </a:pPr>
            <a:r>
              <a:t>Human-In-The-Loop (HITL)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Non-Mutating Write Tools: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Write tools (`update_membership`, `extend_trial`) are prohibited from writing directly. They only draft a pending `audit_logs` entry.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Pending Audit Trail: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Drafted actions are stored as JSON payloads (status: `pending`) mapped to the authenticated vendor, returning a secure ID to the UI.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Explicit Authorization: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The user reviews a structured card in the UI. When they click 'Approve', a separate API endpoint validates vendor ownership and executes the transaction.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3167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Trebuchet MS"/>
              </a:defRPr>
            </a:pPr>
            <a:r>
              <a:t>Resilient 3-Tier Fallback Mechanism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6217920" cy="5852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5486400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Trebuchet MS"/>
              </a:defRPr>
            </a:pPr>
            <a:r>
              <a:t>The Resiliency Chain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Tier 1: Gemini 2.5 Flash (Primary):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Uses full LangGraph state machine orchestration and tool-calling models for standard, complex natural language routing.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Tier 2: Local Ollama Model (Secondary):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If Gemini quota exhausts, the backend automatically redirects to a configured local model (e.g. `llama3.2`) with injected context.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Tier 3: Deterministic Fallback (Tertiary):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If local model is also offline, it relies on structured, deterministic CRM responses so the system never breaks during demo review.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645920"/>
            <a:ext cx="6217920" cy="5852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920240"/>
            <a:ext cx="5486400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10B981"/>
                </a:solidFill>
                <a:latin typeface="Trebuchet MS"/>
              </a:defRPr>
            </a:pPr>
            <a:r>
              <a:t>Implementation Details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Transparent UI Badging: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The interface displays the active mode ('Gemini', 'Local Model', or 'Fallback') and remaining LLM budget for full developer visibility.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Staged Loading Alerts: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Warns users when the organization quota is low and fallbacks are executing to manage expectations during reviews.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Runtime Event Auditing: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Every transition to fallback modes is logged in the `runtime_events` table for operational visibility and debugging.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3167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Trebuchet MS"/>
              </a:defRPr>
            </a:pPr>
            <a:r>
              <a:t>The Copilot Interface in Action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621792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rome_0TWUGEPA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5852160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669280"/>
            <a:ext cx="6217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4F46E5"/>
                </a:solidFill>
                <a:latin typeface="Segoe UI"/>
              </a:defRPr>
            </a:pPr>
            <a:r>
              <a:t>Human-in-the-Loop Approvals</a:t>
            </a:r>
          </a:p>
          <a:p>
            <a:pPr>
              <a:defRPr sz="1400">
                <a:solidFill>
                  <a:srgbClr val="475569"/>
                </a:solidFill>
                <a:latin typeface="Segoe UI"/>
              </a:defRPr>
            </a:pPr>
            <a:r>
              <a:t>Demonstrates a membership write mutation that requires approval, is approved via the UI card, and then successfully executed.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0" y="1645920"/>
            <a:ext cx="621792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rome_N0ZVgJtS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828800"/>
            <a:ext cx="585216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80960" y="5669280"/>
            <a:ext cx="6217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4F46E5"/>
                </a:solidFill>
                <a:latin typeface="Segoe UI"/>
              </a:defRPr>
            </a:pPr>
            <a:r>
              <a:t>Multi-Tenant Guardrails</a:t>
            </a:r>
          </a:p>
          <a:p>
            <a:pPr>
              <a:defRPr sz="1400">
                <a:solidFill>
                  <a:srgbClr val="475569"/>
                </a:solidFill>
                <a:latin typeface="Segoe UI"/>
              </a:defRPr>
            </a:pPr>
            <a:r>
              <a:t>Testing cross-vendor data queries (e.g. database dump request). The copilot securely refuses access, preventing information leaks.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3167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Trebuchet MS"/>
              </a:defRPr>
            </a:pPr>
            <a:r>
              <a:t>New Feature: Background Document Ingestion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31673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2435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4F46E5"/>
                </a:solidFill>
                <a:latin typeface="Segoe UI"/>
              </a:defRPr>
            </a:pPr>
            <a:r>
              <a:t>Asynchronous Support Document Ingestion</a:t>
            </a:r>
          </a:p>
          <a:p>
            <a:pPr>
              <a:defRPr sz="1600">
                <a:solidFill>
                  <a:srgbClr val="475569"/>
                </a:solidFill>
                <a:latin typeface="Segoe UI"/>
              </a:defRPr>
            </a:pPr>
            <a:r>
              <a:t>In this update, I built and integrated a background document ingestion pipeline (`POST /api/v1/documents/upload`). While the current phase of the Copilot focuses strictly on structured CRM data, this new feature establishes the foundational architecture for future Unstructured RAG capabilities.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31673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000" b="1">
                <a:solidFill>
                  <a:srgbClr val="0F172A"/>
                </a:solidFill>
                <a:latin typeface="Segoe UI"/>
              </a:defRPr>
            </a:pPr>
            <a:r>
              <a:t>How the Ingestion Pipeline Operates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89120"/>
            <a:ext cx="310896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663440"/>
            <a:ext cx="274320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4F46E5"/>
                </a:solidFill>
                <a:latin typeface="Segoe UI"/>
              </a:defRPr>
            </a:pPr>
            <a:r>
              <a:t>1. FastAPI Endpoint</a:t>
            </a:r>
          </a:p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Accepts multipart file upload and hands off to FastAPI background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23360" y="4389120"/>
            <a:ext cx="310896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4663440"/>
            <a:ext cx="274320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4F46E5"/>
                </a:solidFill>
                <a:latin typeface="Segoe UI"/>
              </a:defRPr>
            </a:pPr>
            <a:r>
              <a:t>2. Extraction &amp; Clean</a:t>
            </a:r>
          </a:p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Saves temporarily, extracts text (OCR/Parser), and strips extra whitespace.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389120"/>
            <a:ext cx="310896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0" y="4663440"/>
            <a:ext cx="274320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4F46E5"/>
                </a:solidFill>
                <a:latin typeface="Segoe UI"/>
              </a:defRPr>
            </a:pPr>
            <a:r>
              <a:t>3. Chunking &amp; Overlap</a:t>
            </a:r>
          </a:p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Chunks clean text using sliding thresholds (15 lines per chunk, 5 lines overlap).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607040" y="4389120"/>
            <a:ext cx="32918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0" y="4663440"/>
            <a:ext cx="292608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4F46E5"/>
                </a:solidFill>
                <a:latin typeface="Segoe UI"/>
              </a:defRPr>
            </a:pPr>
            <a:r>
              <a:t>4. pgvector Embedding</a:t>
            </a:r>
          </a:p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Embeds chunk text and persists to PostgreSQL with pgvector embeddings.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3167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Trebuchet MS"/>
              </a:defRPr>
            </a:pPr>
            <a:r>
              <a:t>DevOps Constraints &amp; Performance Optimizations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6217920" cy="5852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5486400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4F46E5"/>
                </a:solidFill>
                <a:latin typeface="Trebuchet MS"/>
              </a:defRPr>
            </a:pPr>
            <a:r>
              <a:t>Solving the Render OOM Problem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The Constraint: 512MB RAM Limit: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Free hosting services like Render enforce a strict 512MB memory ceiling. Loading PyTorch and local models inside the app led to instant Out-Of-Memory (OOM) crashes.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The Design Shift: Serverless APIs: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I shifted from local `sentence-transformers` library to the Hugging Face Serverless Inference API to compute embeddings.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The Result: Near-Zero Memory: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Embedding calculations are offloaded entirely. Memory footprints dropped to near-zero, while keeping the 384-dimensional vector database mapping 100% compatible.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645920"/>
            <a:ext cx="6217920" cy="5852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920240"/>
            <a:ext cx="5486400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Trebuchet MS"/>
              </a:defRPr>
            </a:pPr>
            <a:r>
              <a:t>Intelligent Session Memory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PostgreSQL-Backed Memory: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Conversation states are serialized and loaded directly from PostgreSQL databases based on persistent conversation UUIDs.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Sliding Window Pruning: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Coded with an active sliding window of the last 10 messages. Older history is dynamically pruned from active contexts during requests.</a:t>
            </a:r>
          </a:p>
          <a:p>
            <a:pPr>
              <a:spcAft>
                <a:spcPts val="200"/>
              </a:spcAft>
              <a:defRPr b="1" sz="1600">
                <a:solidFill>
                  <a:srgbClr val="0F172A"/>
                </a:solidFill>
                <a:latin typeface="Segoe UI"/>
              </a:defRPr>
            </a:pPr>
            <a:r>
              <a:t>•  Optimizing Latency &amp; Accuracy:</a:t>
            </a:r>
          </a:p>
          <a:p>
            <a:pPr>
              <a:spcAft>
                <a:spcPts val="14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Capping history prevents model hallucinations, enforces clean conversation flows, and limits token usage to maintain fast API response times.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3167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Trebuchet MS"/>
              </a:defRPr>
            </a:pPr>
            <a:r>
              <a:t>Future Production-Ready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4023360" cy="5852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3474720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4F46E5"/>
                </a:solidFill>
                <a:latin typeface="Segoe UI"/>
              </a:defRPr>
            </a:pPr>
            <a:r>
              <a:t>Phase 1: Authorization Hardening</a:t>
            </a:r>
          </a:p>
          <a:p>
            <a:pPr>
              <a:spcAft>
                <a:spcPts val="16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Replace the current simulated X-Vendor-ID header auth with secure JWT or OAuth 2.0 flows.</a:t>
            </a:r>
          </a:p>
          <a:p>
            <a:pPr>
              <a:spcAft>
                <a:spcPts val="16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Implement Role-Based Access Control (RBAC): Admin roles auto-execute, while Staff roles route to Human-in-the-Loop approvals.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0" y="1645920"/>
            <a:ext cx="4023360" cy="5852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77840" y="1920240"/>
            <a:ext cx="3474720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4F46E5"/>
                </a:solidFill>
                <a:latin typeface="Segoe UI"/>
              </a:defRPr>
            </a:pPr>
            <a:r>
              <a:t>Phase 2: UX &amp; Stream Upgrades</a:t>
            </a:r>
          </a:p>
          <a:p>
            <a:pPr>
              <a:spcAft>
                <a:spcPts val="16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Upgrade current REST endpoints to WebSockets to support real-time LLM token streaming.</a:t>
            </a:r>
          </a:p>
          <a:p>
            <a:pPr>
              <a:spcAft>
                <a:spcPts val="16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Add rich UI approval card breakdowns to preview exact user/game database details prior to execution.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75520" y="1645920"/>
            <a:ext cx="4023360" cy="5852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0" y="1920240"/>
            <a:ext cx="3474720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4F46E5"/>
                </a:solidFill>
                <a:latin typeface="Segoe UI"/>
              </a:defRPr>
            </a:pPr>
            <a:r>
              <a:t>Phase 3: Database &amp; CI Hardening</a:t>
            </a:r>
          </a:p>
          <a:p>
            <a:pPr>
              <a:spcAft>
                <a:spcPts val="16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Transition startup-based database creation to version-controlled Alembic migrations.</a:t>
            </a:r>
          </a:p>
          <a:p>
            <a:pPr>
              <a:spcAft>
                <a:spcPts val="16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Build a CI pipeline that runs safety tests automatically on pull requests.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280160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4800" b="1">
                <a:solidFill>
                  <a:srgbClr val="FFFFFF"/>
                </a:solidFill>
                <a:latin typeface="Trebuchet MS"/>
              </a:defRPr>
            </a:pPr>
            <a:r>
              <a:t>Thank You &amp; Product Demo</a:t>
            </a:r>
          </a:p>
          <a:p>
            <a:pPr algn="ctr">
              <a:defRPr sz="2000">
                <a:solidFill>
                  <a:srgbClr val="10B981"/>
                </a:solidFill>
                <a:latin typeface="Segoe UI"/>
              </a:defRPr>
            </a:pPr>
            <a:r>
              <a:t>Open to questions &amp; code reviews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86000" y="2926080"/>
            <a:ext cx="10058400" cy="4114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0" y="3291840"/>
            <a:ext cx="914400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2000"/>
              </a:spcAft>
              <a:defRPr b="1" sz="1600">
                <a:solidFill>
                  <a:srgbClr val="10B981"/>
                </a:solidFill>
                <a:latin typeface="Segoe UI"/>
              </a:defRPr>
            </a:pPr>
            <a:r>
              <a:t>Live Application Demo: </a:t>
            </a:r>
            <a:r>
              <a:rPr b="0" sz="1600">
                <a:solidFill>
                  <a:srgbClr val="FFFFFF"/>
                </a:solidFill>
              </a:rPr>
              <a:t>https://hobbyfi-copilot-wlbk.onrender.com</a:t>
            </a:r>
          </a:p>
          <a:p>
            <a:pPr algn="ctr">
              <a:spcAft>
                <a:spcPts val="2000"/>
              </a:spcAft>
              <a:defRPr b="1" sz="1600">
                <a:solidFill>
                  <a:srgbClr val="10B981"/>
                </a:solidFill>
                <a:latin typeface="Segoe UI"/>
              </a:defRPr>
            </a:pPr>
            <a:r>
              <a:t>GitHub Repository: </a:t>
            </a:r>
            <a:r>
              <a:rPr b="0" sz="1600">
                <a:solidFill>
                  <a:srgbClr val="FFFFFF"/>
                </a:solidFill>
              </a:rPr>
              <a:t>https://github.com/MrHeaven1y</a:t>
            </a:r>
          </a:p>
          <a:p>
            <a:pPr algn="ctr">
              <a:spcAft>
                <a:spcPts val="2000"/>
              </a:spcAft>
              <a:defRPr b="1" sz="1600">
                <a:solidFill>
                  <a:srgbClr val="10B981"/>
                </a:solidFill>
                <a:latin typeface="Segoe UI"/>
              </a:defRPr>
            </a:pPr>
            <a:r>
              <a:t>LinkedIn Profile: </a:t>
            </a:r>
            <a:r>
              <a:rPr b="0" sz="1600">
                <a:solidFill>
                  <a:srgbClr val="FFFFFF"/>
                </a:solidFill>
              </a:rPr>
              <a:t>www.linkedin.com/in/dibayendu-mukherjee-bb897b267</a:t>
            </a:r>
          </a:p>
          <a:p>
            <a:pPr algn="ctr">
              <a:spcAft>
                <a:spcPts val="2000"/>
              </a:spcAft>
              <a:defRPr b="1" sz="1600">
                <a:solidFill>
                  <a:srgbClr val="10B981"/>
                </a:solidFill>
                <a:latin typeface="Segoe UI"/>
              </a:defRPr>
            </a:pPr>
            <a:r>
              <a:t>Email Address: </a:t>
            </a:r>
            <a:r>
              <a:rPr b="0" sz="1600">
                <a:solidFill>
                  <a:srgbClr val="FFFFFF"/>
                </a:solidFill>
              </a:rPr>
              <a:t>dibyendumukherjee916@gmail.com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